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PROBLEM 25 · SECURITY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4500" b="1">
                <a:solidFill>
                  <a:srgbClr val="E6EFF9"/>
                </a:solidFill>
                <a:latin typeface="Aptos"/>
              </a:defRPr>
            </a:pPr>
            <a:r>
              <a:t>3,000 alerts.</a:t>
            </a:r>
          </a:p>
          <a:p>
            <a:pPr>
              <a:spcAft>
                <a:spcPts val="1200"/>
              </a:spcAft>
              <a:defRPr sz="4500" b="1">
                <a:solidFill>
                  <a:srgbClr val="E6EFF9"/>
                </a:solidFill>
                <a:latin typeface="Aptos"/>
              </a:defRPr>
            </a:pPr>
            <a:r>
              <a:t>One analyst.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560320"/>
            <a:ext cx="10972800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A1B4CE"/>
                </a:solidFill>
                <a:latin typeface="Aptos"/>
              </a:defRPr>
            </a:pPr>
            <a:r>
              <a:t>Utopia SOC</a:t>
            </a:r>
          </a:p>
          <a:p>
            <a:pPr>
              <a:spcAft>
                <a:spcPts val="1200"/>
              </a:spcAft>
              <a:defRPr sz="2600" b="0">
                <a:solidFill>
                  <a:srgbClr val="A1B4CE"/>
                </a:solidFill>
                <a:latin typeface="Aptos"/>
              </a:defRPr>
            </a:pPr>
            <a:r>
              <a:t>Transparent grouping. Human decisions. Measured coverage.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Imagine Utopia · Team 239 · Microsoft Innovate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PROBLEM &amp;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The analyst needs an investigation,</a:t>
            </a:r>
          </a:p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not another wall of signals.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Bring entity and time evidence together across identity, endpoint, and network alerts.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Expose asset context, behavior progression, and each risk component.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Measure how many attack episodes become visible for a given review budget.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A research prototype; no claim that triage alone prevents a breach.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SOLUTION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Security decisions stay deterministic.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10972800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Validate → deduplicate → correlate → ATT&amp;CK map → classify → score → rank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Every source alert is retained. Every accepted link has a reason.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Simulation truth → evaluation only. No labels in engine inputs.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Facts packet → verified template / optional model brief.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Analyst decision → versioned state + SHA-256 audit 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One shared TypeScript engine · React · local SQLite / hosted D1 · FastAPI adapter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CONTROLLED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Raw events → detectors → validated alerts.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FICTIONAL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120 hosts · 160 users · 72-hour alert batch. Causal state prerequisites and seeded raw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FOUR ATTACK FAMILIES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Phishing / exfiltration · identity compromise · ransomware · command and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DIFFICULTY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Sensor dropout · duplicates · missing entities · shared hubs · concurrency · timing and severity noise.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Controlled ATT&amp;CK v17.1 mappings, validated against the official STIX bundle.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WORKING ANALYST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A queue that opens into evidence.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631" y="2057400"/>
            <a:ext cx="6124431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Live workflow: ranked queue → source timeline → graph reasons → score → human disposition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EXPLAINABILITY &amp; HUMAN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Open the relationship. Inspect the reason.</a:t>
            </a:r>
          </a:p>
        </p:txBody>
      </p:sp>
      <p:pic>
        <p:nvPicPr>
          <p:cNvPr id="4" name="Picture 3" descr="inves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631" y="2057400"/>
            <a:ext cx="6124431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Link contributions, original alert IDs, controlled ATT&amp;CK mappings, and reasoned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SOC IMPORT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Bring reports. Keep the evidence.</a:t>
            </a:r>
          </a:p>
        </p:txBody>
      </p:sp>
      <p:pic>
        <p:nvPicPr>
          <p:cNvPr id="4" name="Picture 3" descr="import-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892" y="2057400"/>
            <a:ext cx="2525909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Browser-only parsing · structured event triage / cited narrative assessment · explicit rejection and severity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FAIR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Same inputs. Same labels. Same metric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10972800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B0  Severity only — one alert per review item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B1  Host / 30-minute buckets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B2  Exact typed-entity sets / time buckets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B3  Contextual per-alert ranking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UT  Contextual entity graph + deterministic score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Episode surfaced = at least one of its alerts in an opened item.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Pairwise grouping quality separately measures reconstruction.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Educational baseline implementations. No vendor product benchmark.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MEASURED DEMO · SEED 239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3,000 alerts → 617 review items.</a:t>
            </a:r>
          </a:p>
        </p:txBody>
      </p:sp>
      <p:pic>
        <p:nvPicPr>
          <p:cNvPr id="4" name="Picture 3" descr="coverage-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58" y="2057400"/>
            <a:ext cx="9005977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Full episode coverage: Utopia 66 opened items; severity-only 715. Synthetic only; not analyst-time savings.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HELD-OUT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Twenty held-out seeds at each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80.0% RECALL @25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Utopia mean across held-out 3,000-alert runs. B0 mean: 17%.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54.9 ITEMS TO FULL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Utopia mean. Severity-only: 589.8 items. Total Utopia queue: 624.8.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25.6% GROUPING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Mean benign contamination: 3.7%. Surfacing is not full reconstruction.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60 holdouts · 40 stress runs · 80 ablations · paired bootstrap intervals · no test-seed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RESEARCH EXPLORER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Show uncertainty, not just a winning seed.</a:t>
            </a:r>
          </a:p>
        </p:txBody>
      </p:sp>
      <p:pic>
        <p:nvPicPr>
          <p:cNvPr id="4" name="Picture 3" descr="benchmark-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631" y="2057400"/>
            <a:ext cx="6124431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Paired comparisons · seed distributions · stress conditions · ablations · temporal replay misses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OBSERVED FAILURE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Long gaps fragment the chain.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80-MINUTE STEP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Seed 801, 3,000 alerts. Frozen entity windows no longer connect many stages.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16.7% RECALL @25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Pairwise recall: 17.8%. Full coverage takes 267 items.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2423160"/>
            <a:ext cx="3611880" cy="2880360"/>
          </a:xfrm>
          <a:prstGeom prst="rect">
            <a:avLst/>
          </a:prstGeom>
          <a:solidFill>
            <a:srgbClr val="142238"/>
          </a:solidFill>
          <a:ln>
            <a:solidFill>
              <a:srgbClr val="35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2670048"/>
            <a:ext cx="320040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4E0BB"/>
                </a:solidFill>
                <a:latin typeface="Aptos"/>
              </a:defRPr>
            </a:pPr>
            <a:r>
              <a:t>NEXT EXPERIMENT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3529584"/>
            <a:ext cx="32004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1B4CE"/>
                </a:solidFill>
                <a:latin typeface="Aptos"/>
              </a:defRPr>
            </a:pPr>
            <a:r>
              <a:t>Measure wider windows, contamination, and segmentation on separate tuning data; never hide the trade-off.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This is an actual measured stress result, not a hypothetical caveat.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IMPLEMENTATION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Complete workflow. Honest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10972800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Implemented: simulation, ingest, correlation, evidence, scoring, dashboard, decisions, audit, baselines, benchmarks.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Live brief: deterministic template; optional model adapter is in source.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AIT-ADS check: checksum verified; 3,000 Wazuh records accepted / 400 AMiner rejected. No gold attack accuracy inferred.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Audit: trusted-head tamper evidence; no external anchoring.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No autonomous response, compliance guarantee, or production accuracy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Tests cover reproducibility, label rejection, preservation, concurrency, owner isolation, and tampering.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4E0BB"/>
                </a:solidFill>
                <a:latin typeface="Aptos"/>
              </a:defRPr>
            </a:pPr>
            <a:r>
              <a:t>CONTRIBUTION &amp;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6EFF9"/>
                </a:solidFill>
                <a:latin typeface="Aptos"/>
              </a:defRPr>
            </a:pPr>
            <a:r>
              <a:t>Make the trade-off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10972800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Can transparent grouping surface attack episodes with fewer opened review items?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Synthetic evidence: improved episode visibility, with declining recall and modest grouping F1 as scale increases.</a:t>
            </a: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200" b="0">
                <a:solidFill>
                  <a:srgbClr val="A1B4CE"/>
                </a:solidFill>
                <a:latin typeface="Aptos"/>
              </a:defRPr>
            </a:pPr>
            <a:r>
              <a:t>Next: independently labeled external data, a real analyst study, and measured review effort.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1B4CE"/>
                </a:solidFill>
                <a:latin typeface="Aptos"/>
              </a:defRPr>
            </a:pPr>
            <a:r>
              <a:t>Imagine Utopia · Team 239 · Source, benchmark artifacts, and demo supplied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E0B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